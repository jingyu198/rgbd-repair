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60" r:id="rId3"/>
    <p:sldId id="261" r:id="rId4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jpeg"/><Relationship Id="rId3" Type="http://schemas.openxmlformats.org/officeDocument/2006/relationships/image" Target="../media/image3.png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51180" y="260350"/>
            <a:ext cx="6096000" cy="514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08000"/>
              </a:lnSpc>
              <a:buNone/>
              <a:defRPr sz="2550" b="1">
                <a:solidFill>
                  <a:srgbClr val="1D25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2550" b="1">
                <a:solidFill>
                  <a:srgbClr val="1D25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RGBD</a:t>
            </a:r>
            <a:r>
              <a:rPr lang="zh-CN" altLang="en-US" sz="2550" b="1">
                <a:solidFill>
                  <a:srgbClr val="1D25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相机</a:t>
            </a:r>
            <a:r>
              <a:rPr sz="2550" b="1">
                <a:solidFill>
                  <a:srgbClr val="1D25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深度</a:t>
            </a:r>
            <a:r>
              <a:rPr lang="zh-CN" sz="2550" b="1">
                <a:solidFill>
                  <a:srgbClr val="1D25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图修复</a:t>
            </a:r>
            <a:r>
              <a:rPr sz="2550" b="1">
                <a:solidFill>
                  <a:srgbClr val="1D25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方案</a:t>
            </a:r>
            <a:endParaRPr lang="zh-CN" altLang="en-US" sz="2550" b="1">
              <a:solidFill>
                <a:srgbClr val="1D253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22935" y="980440"/>
            <a:ext cx="1104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p>
            <a:pPr algn="l">
              <a:lnSpc>
                <a:spcPct val="108000"/>
              </a:lnSpc>
              <a:buNone/>
              <a:defRPr sz="1350" b="0">
                <a:solidFill>
                  <a:srgbClr val="58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58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核心原则：保留可靠原始深度，只在不可靠区域用</a:t>
            </a:r>
            <a:r>
              <a:rPr lang="zh-CN" sz="1350" b="1">
                <a:solidFill>
                  <a:srgbClr val="58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深度修复大模型</a:t>
            </a:r>
            <a:r>
              <a:rPr lang="en-US" altLang="zh-CN" sz="1350" b="1">
                <a:solidFill>
                  <a:srgbClr val="58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(Lingbot-Depth)</a:t>
            </a:r>
            <a:r>
              <a:rPr lang="zh-CN" altLang="en-US" sz="1350" b="1">
                <a:solidFill>
                  <a:srgbClr val="58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</a:t>
            </a:r>
            <a:r>
              <a:rPr lang="zh-CN" altLang="en-US" sz="1350" b="1">
                <a:solidFill>
                  <a:srgbClr val="58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优化</a:t>
            </a:r>
            <a:endParaRPr lang="zh-CN" altLang="en-US" sz="1350" b="1">
              <a:solidFill>
                <a:srgbClr val="5865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2935" y="1520825"/>
            <a:ext cx="991806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p>
            <a:pPr algn="l">
              <a:lnSpc>
                <a:spcPct val="108000"/>
              </a:lnSpc>
              <a:buNone/>
              <a:defRPr sz="1800" b="1">
                <a:solidFill>
                  <a:srgbClr val="C13E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C13E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</a:t>
            </a:r>
            <a:r>
              <a:rPr lang="zh-CN" sz="1800" b="1">
                <a:solidFill>
                  <a:srgbClr val="C13E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1800" b="1">
                <a:solidFill>
                  <a:srgbClr val="C13E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RGBD</a:t>
            </a:r>
            <a:r>
              <a:rPr lang="zh-CN" altLang="en-US" sz="1800" b="1">
                <a:solidFill>
                  <a:srgbClr val="C13E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原始深度噪点多、</a:t>
            </a:r>
            <a:r>
              <a:rPr lang="zh-CN" altLang="en-US" sz="1800" b="1">
                <a:solidFill>
                  <a:srgbClr val="C13E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地面反光难修复</a:t>
            </a:r>
            <a:endParaRPr lang="zh-CN" altLang="en-US" sz="1800" b="1">
              <a:solidFill>
                <a:srgbClr val="C13E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67080" y="4220845"/>
            <a:ext cx="834644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p>
            <a:pPr algn="l">
              <a:lnSpc>
                <a:spcPct val="108000"/>
              </a:lnSpc>
              <a:buNone/>
              <a:defRPr sz="1800" b="1">
                <a:solidFill>
                  <a:srgbClr val="C13E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800" b="1">
                <a:solidFill>
                  <a:srgbClr val="C13E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解决方案：</a:t>
            </a:r>
            <a:r>
              <a:rPr lang="en-US" altLang="zh-CN" sz="1800" b="1">
                <a:solidFill>
                  <a:srgbClr val="C13E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800" b="1">
                <a:solidFill>
                  <a:srgbClr val="C13E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在噪声区域基于深度修补大模型</a:t>
            </a:r>
            <a:r>
              <a:rPr lang="zh-CN" altLang="en-US" sz="1800" b="1">
                <a:solidFill>
                  <a:srgbClr val="C13E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进行优化</a:t>
            </a:r>
            <a:endParaRPr lang="zh-CN" altLang="en-US" sz="1800" b="1">
              <a:solidFill>
                <a:srgbClr val="C13E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5" name="图片 64"/>
          <p:cNvPicPr>
            <a:picLocks noChangeAspect="1"/>
          </p:cNvPicPr>
          <p:nvPr/>
        </p:nvPicPr>
        <p:blipFill>
          <a:blip r:embed="rId1"/>
          <a:srcRect r="34036" b="50541"/>
          <a:stretch>
            <a:fillRect/>
          </a:stretch>
        </p:blipFill>
        <p:spPr>
          <a:xfrm>
            <a:off x="6599555" y="2348865"/>
            <a:ext cx="4796155" cy="134874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470" y="2348865"/>
            <a:ext cx="4568825" cy="141287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911225" y="4844415"/>
            <a:ext cx="10668635" cy="14839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 algn="l">
              <a:lnSpc>
                <a:spcPct val="108000"/>
              </a:lnSpc>
              <a:buFont typeface="Arial" panose="020B0604020202020204" pitchFamily="34" charset="0"/>
              <a:buChar char="•"/>
              <a:defRPr sz="1200" b="0">
                <a:solidFill>
                  <a:srgbClr val="1D25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400">
                <a:solidFill>
                  <a:srgbClr val="1D25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最终方案：</a:t>
            </a:r>
            <a:r>
              <a:rPr lang="en-US" altLang="zh-CN" sz="1400" b="1">
                <a:solidFill>
                  <a:srgbClr val="1D25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raw depth </a:t>
            </a:r>
            <a:r>
              <a:rPr lang="zh-CN" altLang="en-US" sz="1400" b="1">
                <a:solidFill>
                  <a:srgbClr val="1D25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可靠时保留，只用校准后的</a:t>
            </a:r>
            <a:r>
              <a:rPr lang="en-US" altLang="zh-CN" sz="1400" b="1">
                <a:solidFill>
                  <a:srgbClr val="1D25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LingBot </a:t>
            </a:r>
            <a:r>
              <a:rPr lang="zh-CN" altLang="en-US" sz="1400" b="1">
                <a:solidFill>
                  <a:srgbClr val="1D25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修复坏点</a:t>
            </a:r>
            <a:r>
              <a:rPr lang="zh-CN" altLang="en-US" sz="1400">
                <a:solidFill>
                  <a:srgbClr val="1D25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，包括无效深度、噪声</a:t>
            </a:r>
            <a:r>
              <a:rPr lang="en-US" altLang="zh-CN" sz="1400">
                <a:solidFill>
                  <a:srgbClr val="1D25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1400">
                <a:solidFill>
                  <a:srgbClr val="1D25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异常点、反光区域和明显不一致区域。</a:t>
            </a:r>
            <a:endParaRPr lang="zh-CN" altLang="en-US" sz="1400">
              <a:solidFill>
                <a:srgbClr val="1D253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indent="-285750" algn="l">
              <a:lnSpc>
                <a:spcPct val="108000"/>
              </a:lnSpc>
              <a:buFont typeface="Arial" panose="020B0604020202020204" pitchFamily="34" charset="0"/>
              <a:buChar char="•"/>
              <a:defRPr sz="1200" b="0">
                <a:solidFill>
                  <a:srgbClr val="1D25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zh-CN" altLang="en-US" sz="1400">
              <a:solidFill>
                <a:srgbClr val="1D253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indent="-285750" algn="l">
              <a:lnSpc>
                <a:spcPct val="108000"/>
              </a:lnSpc>
              <a:buFont typeface="Arial" panose="020B0604020202020204" pitchFamily="34" charset="0"/>
              <a:buChar char="•"/>
              <a:defRPr sz="1200" b="0">
                <a:solidFill>
                  <a:srgbClr val="1D25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400">
                <a:solidFill>
                  <a:srgbClr val="1D25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离线效果：三个</a:t>
            </a:r>
            <a:r>
              <a:rPr lang="en-US" altLang="zh-CN" sz="1400">
                <a:solidFill>
                  <a:srgbClr val="1D25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demo </a:t>
            </a:r>
            <a:r>
              <a:rPr lang="zh-CN" altLang="en-US" sz="1400">
                <a:solidFill>
                  <a:srgbClr val="1D25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融合后有效深度均为</a:t>
            </a:r>
            <a:r>
              <a:rPr lang="en-US" altLang="zh-CN" sz="1400">
                <a:solidFill>
                  <a:srgbClr val="1D25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sz="1400" b="1">
                <a:solidFill>
                  <a:srgbClr val="1D25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100%</a:t>
            </a:r>
            <a:r>
              <a:rPr lang="zh-CN" altLang="en-US" sz="1400">
                <a:solidFill>
                  <a:srgbClr val="1D25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，替换约</a:t>
            </a:r>
            <a:r>
              <a:rPr lang="en-US" altLang="zh-CN" sz="1400">
                <a:solidFill>
                  <a:srgbClr val="1D25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16.6%-26.6%</a:t>
            </a:r>
            <a:r>
              <a:rPr lang="zh-CN" altLang="en-US" sz="1400">
                <a:solidFill>
                  <a:srgbClr val="1D25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，主要改善</a:t>
            </a:r>
            <a:r>
              <a:rPr lang="zh-CN" altLang="en-US" sz="1400" b="1">
                <a:solidFill>
                  <a:srgbClr val="1D25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反光、边界空洞和局部跳点</a:t>
            </a:r>
            <a:r>
              <a:rPr lang="zh-CN" altLang="en-US" sz="1400">
                <a:solidFill>
                  <a:srgbClr val="1D25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sz="1400">
              <a:solidFill>
                <a:srgbClr val="1D253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indent="-285750" algn="l">
              <a:lnSpc>
                <a:spcPct val="108000"/>
              </a:lnSpc>
              <a:buFont typeface="Arial" panose="020B0604020202020204" pitchFamily="34" charset="0"/>
              <a:buChar char="•"/>
              <a:defRPr sz="1200" b="0">
                <a:solidFill>
                  <a:srgbClr val="1D25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zh-CN" altLang="en-US" sz="1400">
              <a:solidFill>
                <a:srgbClr val="1D253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indent="-285750" algn="l">
              <a:lnSpc>
                <a:spcPct val="108000"/>
              </a:lnSpc>
              <a:buFont typeface="Arial" panose="020B0604020202020204" pitchFamily="34" charset="0"/>
              <a:buChar char="•"/>
              <a:defRPr sz="1200" b="0">
                <a:solidFill>
                  <a:srgbClr val="1D25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400">
                <a:solidFill>
                  <a:srgbClr val="1D25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部署效果：</a:t>
            </a:r>
            <a:r>
              <a:rPr lang="en-US" altLang="zh-CN" sz="1400">
                <a:solidFill>
                  <a:srgbClr val="1D25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Orin </a:t>
            </a:r>
            <a:r>
              <a:rPr lang="zh-CN" altLang="en-US" sz="1400">
                <a:solidFill>
                  <a:srgbClr val="1D25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上</a:t>
            </a:r>
            <a:r>
              <a:rPr lang="en-US" altLang="zh-CN" sz="1400">
                <a:solidFill>
                  <a:srgbClr val="1D25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TensorRT INT8 / tokens=128 / 64x36 </a:t>
            </a:r>
            <a:r>
              <a:rPr lang="zh-CN" altLang="en-US" sz="1400">
                <a:solidFill>
                  <a:srgbClr val="1D25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已跑通，进行模型</a:t>
            </a:r>
            <a:r>
              <a:rPr lang="zh-CN" altLang="en-US" sz="1400" b="1">
                <a:solidFill>
                  <a:srgbClr val="1D25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量化压缩</a:t>
            </a:r>
            <a:r>
              <a:rPr lang="zh-CN" altLang="en-US" sz="1400">
                <a:solidFill>
                  <a:srgbClr val="1D25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，最终</a:t>
            </a:r>
            <a:r>
              <a:rPr lang="en-US" altLang="zh-CN" sz="1400">
                <a:solidFill>
                  <a:srgbClr val="1D25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MC topic </a:t>
            </a:r>
            <a:r>
              <a:rPr lang="zh-CN" altLang="en-US" sz="1400">
                <a:solidFill>
                  <a:srgbClr val="1D25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约</a:t>
            </a:r>
            <a:r>
              <a:rPr lang="en-US" altLang="zh-CN" sz="1400">
                <a:solidFill>
                  <a:srgbClr val="1D25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sz="1400" b="1">
                <a:solidFill>
                  <a:srgbClr val="1D25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29.97Hz</a:t>
            </a:r>
            <a:r>
              <a:rPr lang="zh-CN" altLang="en-US" sz="1400">
                <a:solidFill>
                  <a:srgbClr val="1D25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en-US" altLang="zh-CN" sz="1400">
                <a:solidFill>
                  <a:srgbClr val="1D25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TRT </a:t>
            </a:r>
            <a:r>
              <a:rPr lang="zh-CN" altLang="en-US" sz="1400">
                <a:solidFill>
                  <a:srgbClr val="1D25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推理约</a:t>
            </a:r>
            <a:r>
              <a:rPr lang="en-US" altLang="zh-CN" sz="1400">
                <a:solidFill>
                  <a:srgbClr val="1D25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23.1ms/frame</a:t>
            </a:r>
            <a:r>
              <a:rPr lang="zh-CN" altLang="en-US" sz="1400">
                <a:solidFill>
                  <a:srgbClr val="1D25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，节点总耗时约</a:t>
            </a:r>
            <a:r>
              <a:rPr lang="en-US" altLang="zh-CN" sz="1400">
                <a:solidFill>
                  <a:srgbClr val="1D25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33.1ms/frame</a:t>
            </a:r>
            <a:endParaRPr lang="en-US" altLang="zh-CN" sz="1400">
              <a:solidFill>
                <a:srgbClr val="1D253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51180" y="260350"/>
            <a:ext cx="6096000" cy="514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08000"/>
              </a:lnSpc>
              <a:buNone/>
              <a:defRPr sz="2550" b="1">
                <a:solidFill>
                  <a:srgbClr val="1D25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2550" b="1">
                <a:solidFill>
                  <a:srgbClr val="1D25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RGBD</a:t>
            </a:r>
            <a:r>
              <a:rPr lang="zh-CN" altLang="en-US" sz="2550" b="1">
                <a:solidFill>
                  <a:srgbClr val="1D25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相机</a:t>
            </a:r>
            <a:r>
              <a:rPr sz="2550" b="1">
                <a:solidFill>
                  <a:srgbClr val="1D25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深度</a:t>
            </a:r>
            <a:r>
              <a:rPr lang="zh-CN" sz="2550" b="1">
                <a:solidFill>
                  <a:srgbClr val="1D25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图修复</a:t>
            </a:r>
            <a:r>
              <a:rPr sz="2550" b="1">
                <a:solidFill>
                  <a:srgbClr val="1D25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方案</a:t>
            </a:r>
            <a:endParaRPr lang="zh-CN" altLang="en-US" sz="2550" b="1">
              <a:solidFill>
                <a:srgbClr val="1D253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22935" y="980440"/>
            <a:ext cx="1104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p>
            <a:pPr algn="l">
              <a:lnSpc>
                <a:spcPct val="108000"/>
              </a:lnSpc>
              <a:buNone/>
              <a:defRPr sz="1350" b="0">
                <a:solidFill>
                  <a:srgbClr val="58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58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核心原则：保留可靠原始深度，只在不可靠区域用</a:t>
            </a:r>
            <a:r>
              <a:rPr lang="zh-CN" sz="1350" b="1">
                <a:solidFill>
                  <a:srgbClr val="58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深度修复大模型</a:t>
            </a:r>
            <a:r>
              <a:rPr lang="en-US" altLang="zh-CN" sz="1350" b="1">
                <a:solidFill>
                  <a:srgbClr val="58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(Lingbot-Depth)</a:t>
            </a:r>
            <a:r>
              <a:rPr lang="zh-CN" altLang="en-US" sz="1350" b="1">
                <a:solidFill>
                  <a:srgbClr val="58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</a:t>
            </a:r>
            <a:r>
              <a:rPr lang="zh-CN" altLang="en-US" sz="1350" b="1">
                <a:solidFill>
                  <a:srgbClr val="58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优化</a:t>
            </a:r>
            <a:endParaRPr lang="zh-CN" altLang="en-US" sz="1350" b="1">
              <a:solidFill>
                <a:srgbClr val="5865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79425" y="148463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p>
            <a:pPr algn="l">
              <a:lnSpc>
                <a:spcPct val="108000"/>
              </a:lnSpc>
              <a:buNone/>
              <a:defRPr sz="1800" b="1">
                <a:solidFill>
                  <a:srgbClr val="C13E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800" b="1">
                <a:solidFill>
                  <a:srgbClr val="C13E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真机实测</a:t>
            </a:r>
            <a:r>
              <a:rPr lang="zh-CN" sz="1800" b="1">
                <a:solidFill>
                  <a:srgbClr val="C13E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效果</a:t>
            </a:r>
            <a:endParaRPr lang="zh-CN" sz="1800" b="1">
              <a:solidFill>
                <a:srgbClr val="C13E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" name="lingbot_confidence_fusion_calibrated_aggressive_194206_maxside320_tokens300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703070" y="4220845"/>
            <a:ext cx="7822565" cy="2364105"/>
          </a:xfrm>
          <a:prstGeom prst="rect">
            <a:avLst/>
          </a:prstGeom>
        </p:spPr>
      </p:pic>
      <p:pic>
        <p:nvPicPr>
          <p:cNvPr id="83" name="图片 8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3070" y="1988820"/>
            <a:ext cx="7821930" cy="1955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423</Words>
  <Application>WPS 演示</Application>
  <PresentationFormat>Converted Presentation</PresentationFormat>
  <Paragraphs>20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Arial</vt:lpstr>
      <vt:lpstr>宋体</vt:lpstr>
      <vt:lpstr>Wingdings</vt:lpstr>
      <vt:lpstr>微软雅黑</vt:lpstr>
      <vt:lpstr>Arial Unicode MS</vt:lpstr>
      <vt:lpstr>Calibri</vt:lpstr>
      <vt:lpstr>ChatGPT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子非鱼</cp:lastModifiedBy>
  <cp:revision>3</cp:revision>
  <dcterms:created xsi:type="dcterms:W3CDTF">2026-06-30T03:29:00Z</dcterms:created>
  <dcterms:modified xsi:type="dcterms:W3CDTF">2026-06-30T04:06:02Z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BAECF4D1B7E94B148EE135D641C52A78_13</vt:lpwstr>
  </property>
  <property fmtid="{D5CDD505-2E9C-101B-9397-08002B2CF9AE}" pid="3" name="KSOProductBuildVer">
    <vt:lpwstr>2052-12.1.0.21171</vt:lpwstr>
  </property>
</Properties>
</file>